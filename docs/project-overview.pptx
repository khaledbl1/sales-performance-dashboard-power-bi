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4b0ee92ad4b30" /><Relationship Type="http://schemas.openxmlformats.org/officeDocument/2006/relationships/extended-properties" Target="/docProps/app.xml" Id="R3b131c226ed44bf6" /><Relationship Type="http://schemas.openxmlformats.org/officeDocument/2006/relationships/officeDocument" Target="/ppt/presentation.xml" Id="R9a58ee2a6fc9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b016106a54739"/>
  </p:sldMasterIdLst>
  <p:notesMasterIdLst>
    <p:notesMasterId xmlns:r="http://schemas.openxmlformats.org/officeDocument/2006/relationships" r:id="R054116f4dbc4492c"/>
  </p:notesMasterIdLst>
  <p:sldIdLst>
    <p:sldId xmlns:r="http://schemas.openxmlformats.org/officeDocument/2006/relationships" id="256" r:id="R356078e7ee234592"/>
    <p:sldId xmlns:r="http://schemas.openxmlformats.org/officeDocument/2006/relationships" id="257" r:id="Rca07547ec1464bdf"/>
    <p:sldId xmlns:r="http://schemas.openxmlformats.org/officeDocument/2006/relationships" id="258" r:id="R5d2f4d574759445f"/>
    <p:sldId xmlns:r="http://schemas.openxmlformats.org/officeDocument/2006/relationships" id="259" r:id="R92db0411b70a4bd0"/>
    <p:sldId xmlns:r="http://schemas.openxmlformats.org/officeDocument/2006/relationships" id="260" r:id="Rdede821b0eaf46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149d7163604783" /><Relationship Type="http://schemas.openxmlformats.org/officeDocument/2006/relationships/slideMaster" Target="/ppt/slideMasters/slideMaster1.xml" Id="R42eb016106a54739" /><Relationship Type="http://schemas.openxmlformats.org/officeDocument/2006/relationships/notesMaster" Target="/ppt/notesMasters/notesMaster1.xml" Id="R054116f4dbc4492c" /><Relationship Type="http://schemas.openxmlformats.org/officeDocument/2006/relationships/presProps" Target="/ppt/presProps.xml" Id="R3244f8d73fbe4763" /><Relationship Type="http://schemas.openxmlformats.org/officeDocument/2006/relationships/tableStyles" Target="/ppt/tableStyles.xml" Id="Recf6232b562e48bc" /><Relationship Type="http://schemas.openxmlformats.org/officeDocument/2006/relationships/slide" Target="/ppt/slides/slide1.xml" Id="R356078e7ee234592" /><Relationship Type="http://schemas.openxmlformats.org/officeDocument/2006/relationships/slide" Target="/ppt/slides/slide2.xml" Id="Rca07547ec1464bdf" /><Relationship Type="http://schemas.openxmlformats.org/officeDocument/2006/relationships/slide" Target="/ppt/slides/slide3.xml" Id="R5d2f4d574759445f" /><Relationship Type="http://schemas.openxmlformats.org/officeDocument/2006/relationships/slide" Target="/ppt/slides/slide4.xml" Id="R92db0411b70a4bd0" /><Relationship Type="http://schemas.openxmlformats.org/officeDocument/2006/relationships/slide" Target="/ppt/slides/slide5.xml" Id="Rdede821b0eaf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4fd6220a446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c51e0943b04a89" /><Relationship Type="http://schemas.openxmlformats.org/officeDocument/2006/relationships/notesMaster" Target="/ppt/notesMasters/notesMaster1.xml" Id="Ra518b00f9cd242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5759b98d94e08" /><Relationship Type="http://schemas.openxmlformats.org/officeDocument/2006/relationships/notesMaster" Target="/ppt/notesMasters/notesMaster1.xml" Id="Rcfd5a5f652aa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a18dd141924342" /><Relationship Type="http://schemas.openxmlformats.org/officeDocument/2006/relationships/notesMaster" Target="/ppt/notesMasters/notesMaster1.xml" Id="Rfbb68b54c9c8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3e2e7dfb948d6" /><Relationship Type="http://schemas.openxmlformats.org/officeDocument/2006/relationships/notesMaster" Target="/ppt/notesMasters/notesMaster1.xml" Id="R2407f6b20eb447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d8f88849104969" /><Relationship Type="http://schemas.openxmlformats.org/officeDocument/2006/relationships/notesMaster" Target="/ppt/notesMasters/notesMaster1.xml" Id="R929f56142e62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title and author: user-provided Power BI project.</a:t>
            </a:r>
          </a:p>
          <a:p xmlns:a="http://schemas.openxmlformats.org/drawingml/2006/main">
            <a:r>
              <a:t>- AdventureWorks background: https://learn.microsoft.com/en-us/sql/samples/adventureworks-install-configure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Metrics: repository CSV files; calculations documented in docs/metric-definitions.md.</a:t>
            </a:r>
          </a:p>
          <a:p xmlns:a="http://schemas.openxmlformats.org/drawingml/2006/main">
            <a:r>
              <a:t>- AdventureWorks background: https://learn.microsoft.com/en-us/sql/samples/adventureworks-install-configure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 screenshot: user-provided Power BI report captured locally from report/Sales Performance Dashboard.pbix.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Metrics: repository CSV files; calculations documented in docs/metric-definitions.md.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 workflow: user-provided report and included CSV files.</a:t>
            </a:r>
          </a:p>
          <a:p xmlns:a="http://schemas.openxmlformats.org/drawingml/2006/main">
            <a:r>
              <a:t>- Repository URL: https://github.com/KHALEDBL1/Sales-Performance-Dashboard-Power-BI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6ffc1523a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0e88b1e1e4e11" /><Relationship Type="http://schemas.openxmlformats.org/officeDocument/2006/relationships/slideLayout" Target="/ppt/slideLayouts/slideLayout1.xml" Id="R2ba0bb7f6ce0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0bb7f6ce0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5dd2147034755" /><Relationship Type="http://schemas.openxmlformats.org/officeDocument/2006/relationships/notesSlide" Target="/ppt/notesSlides/notesSlide1.xml" Id="R0f4211fd19ef46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a5944b889458e" /><Relationship Type="http://schemas.openxmlformats.org/officeDocument/2006/relationships/notesSlide" Target="/ppt/notesSlides/notesSlide2.xml" Id="Rc04a2e102fb242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339a51255441b" /><Relationship Type="http://schemas.openxmlformats.org/officeDocument/2006/relationships/image" Target="/ppt/media/image.png" Id="R7f00177636ee4e03" /><Relationship Type="http://schemas.openxmlformats.org/officeDocument/2006/relationships/notesSlide" Target="/ppt/notesSlides/notesSlide3.xml" Id="Rf51950ab3d08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a1b47b49d480d" /><Relationship Type="http://schemas.openxmlformats.org/officeDocument/2006/relationships/notesSlide" Target="/ppt/notesSlides/notesSlide4.xml" Id="R7e0c743822f2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35ba5306344ba" /><Relationship Type="http://schemas.openxmlformats.org/officeDocument/2006/relationships/notesSlide" Target="/ppt/notesSlides/notesSlide5.xml" Id="R445876da53ef46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23C0E-1D32-43BC-8455-069AE20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7E077-0664-4C6B-A9F9-41C9717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C62"/>
                </a:solidFill>
              </a:defRPr>
            </a:pPr>
            <a:r>
              <a:rPr sz="1125" b="1">
                <a:solidFill>
                  <a:srgbClr val="9AEC62"/>
                </a:solidFill>
              </a:rPr>
              <a:t>ACADEMIC PORTFOLIO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5AA65-7FF7-4CDD-982C-F33158A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7429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5F4"/>
                </a:solidFill>
              </a:defRPr>
            </a:pPr>
            <a:r>
              <a:rPr sz="4800" b="1">
                <a:solidFill>
                  <a:srgbClr val="F5F5F4"/>
                </a:solidFill>
              </a:rPr>
              <a:t>Sales Performance</a:t>
            </a:r>
          </a:p>
          <a:p xmlns:a="http://schemas.openxmlformats.org/drawingml/2006/main">
            <a:pPr algn="l">
              <a:defRPr sz="4800" b="1">
                <a:solidFill>
                  <a:srgbClr val="F5F5F4"/>
                </a:solidFill>
              </a:defRPr>
            </a:pPr>
            <a:r>
              <a:rPr sz="4800" b="1">
                <a:solidFill>
                  <a:srgbClr val="F5F5F4"/>
                </a:solidFill>
              </a:rPr>
              <a:t>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5E5C0-2BDF-4B8B-A6E2-C50C54D0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29E"/>
                </a:solidFill>
              </a:defRPr>
            </a:pPr>
            <a:r>
              <a:rPr sz="1800" b="0">
                <a:solidFill>
                  <a:srgbClr val="A8A29E"/>
                </a:solidFill>
              </a:rPr>
              <a:t>Power BI · AdventureWorks · 2015–2017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5C9B7-920A-45E4-8E39-DE37BCB7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38DA0-6868-4353-ACAD-FC123BF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Designed and analyzed 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567E5-60C8-450E-A11C-E3DDF711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4"/>
                </a:solidFill>
              </a:defRPr>
            </a:pPr>
            <a:r>
              <a:rPr sz="2250" b="1">
                <a:solidFill>
                  <a:srgbClr val="F5F5F4"/>
                </a:solidFill>
              </a:rPr>
              <a:t>Khaled Omar Bahidilh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0BA0B-BA02-494C-AF34-02F7DF2D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F58D"/>
                </a:solidFill>
              </a:defRPr>
            </a:pPr>
            <a:r>
              <a:rPr sz="1500" b="0">
                <a:solidFill>
                  <a:srgbClr val="CFF58D"/>
                </a:solidFill>
              </a:rPr>
              <a:t>Data Analytics · Business Intelligence · DAX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DA5FB-8C88-4E9E-8CB1-C7D6D73B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198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29E"/>
                </a:solidFill>
              </a:defRPr>
            </a:pPr>
            <a:r>
              <a:rPr sz="975" b="1">
                <a:solidFill>
                  <a:srgbClr val="A8A29E"/>
                </a:solidFill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07205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2A393-492C-466E-A300-132FEA7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2A58B-AA66-4443-A1AE-5808354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A29E"/>
                </a:solidFill>
              </a:defRPr>
            </a:pPr>
            <a:r>
              <a:rPr sz="1050" b="1">
                <a:solidFill>
                  <a:srgbClr val="A8A29E"/>
                </a:solidFill>
              </a:rPr>
              <a:t>POWER BI · ACADEMIC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ABCB2-A06D-42AF-80CF-D431E34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29E"/>
                </a:solidFill>
              </a:defRPr>
            </a:pPr>
            <a:r>
              <a:rPr sz="975" b="1">
                <a:solidFill>
                  <a:srgbClr val="A8A29E"/>
                </a:solidFill>
              </a:rPr>
              <a:t>02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D4416-EF6D-43FD-9450-55ED92C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62D09-1737-4DB9-881D-1380AAC9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4"/>
                </a:solidFill>
              </a:defRPr>
            </a:pPr>
            <a:r>
              <a:rPr sz="3150" b="1">
                <a:solidFill>
                  <a:srgbClr val="F5F5F4"/>
                </a:solidFill>
              </a:rPr>
              <a:t>One page captures the commercial picture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0FBA8-328B-4A7F-BB8E-B75DFF87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29E"/>
                </a:solidFill>
              </a:defRPr>
            </a:pPr>
            <a:r>
              <a:rPr sz="1500" b="0">
                <a:solidFill>
                  <a:srgbClr val="A8A29E"/>
                </a:solidFill>
              </a:rPr>
              <a:t>Validated directly against 56,046 sales lines.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FDF66-3FB1-4A2F-A5DB-E27E2BA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D2E79-613B-4C96-8A5E-AD7711B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F5545-F536-4AB6-A53C-03C71A0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5F4"/>
                </a:solidFill>
              </a:defRPr>
            </a:pPr>
            <a:r>
              <a:rPr sz="3900" b="1">
                <a:solidFill>
                  <a:srgbClr val="F5F5F4"/>
                </a:solidFill>
              </a:rPr>
              <a:t>84,174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4B268-C009-4958-B713-D10F072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EC62"/>
                </a:solidFill>
              </a:defRPr>
            </a:pPr>
            <a:r>
              <a:rPr sz="1575" b="1">
                <a:solidFill>
                  <a:srgbClr val="9AEC62"/>
                </a:solidFill>
              </a:rPr>
              <a:t>units sold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7F103-B917-4951-A18D-BA0BA1A5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5F4"/>
                </a:solidFill>
              </a:defRPr>
            </a:pPr>
            <a:r>
              <a:rPr sz="3900" b="1">
                <a:solidFill>
                  <a:srgbClr val="F5F5F4"/>
                </a:solidFill>
              </a:rPr>
              <a:t>$24.91M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5F36D-815B-4AE2-9F5E-78BDA46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EC62"/>
                </a:solidFill>
              </a:defRPr>
            </a:pPr>
            <a:r>
              <a:rPr sz="1575" b="1">
                <a:solidFill>
                  <a:srgbClr val="9AEC62"/>
                </a:solidFill>
              </a:rPr>
              <a:t>total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54510-BC96-4FE8-AAD1-6031C9B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5F4"/>
                </a:solidFill>
              </a:defRPr>
            </a:pPr>
            <a:r>
              <a:rPr sz="3900" b="1">
                <a:solidFill>
                  <a:srgbClr val="F5F5F4"/>
                </a:solidFill>
              </a:rPr>
              <a:t>$10.46M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C3CB7-22E4-464D-A54E-0DBBA68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EC62"/>
                </a:solidFill>
              </a:defRPr>
            </a:pPr>
            <a:r>
              <a:rPr sz="1575" b="1">
                <a:solidFill>
                  <a:srgbClr val="9AEC62"/>
                </a:solidFill>
              </a:rPr>
              <a:t>net profit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310E0-944A-4419-8419-C28EECA2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4"/>
                </a:solidFill>
              </a:defRPr>
            </a:pPr>
            <a:r>
              <a:rPr sz="2250" b="1">
                <a:solidFill>
                  <a:srgbClr val="F5F5F4"/>
                </a:solidFill>
              </a:rPr>
              <a:t>1.50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A8551-8F34-4D65-980B-6A6ED9AB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avg. units /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B2338-CFA2-42E1-9910-96109C8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52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4"/>
                </a:solidFill>
              </a:defRPr>
            </a:pPr>
            <a:r>
              <a:rPr sz="2250" b="1">
                <a:solidFill>
                  <a:srgbClr val="F5F5F4"/>
                </a:solidFill>
              </a:rPr>
              <a:t>$444.54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F5212-0DBD-439D-B88B-D3567718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10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avg. revenue /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A964B-E778-4DB9-8522-8E318F4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4"/>
                </a:solidFill>
              </a:defRPr>
            </a:pPr>
            <a:r>
              <a:rPr sz="2250" b="1">
                <a:solidFill>
                  <a:srgbClr val="F5F5F4"/>
                </a:solidFill>
              </a:rPr>
              <a:t>$186.59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83D95-19F5-4DE5-A467-712EF30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avg. profit / line</a:t>
            </a:r>
          </a:p>
        </p:txBody>
      </p:sp>
    </p:spTree>
    <p:extLst>
      <p:ext uri="{BB962C8B-B14F-4D97-AF65-F5344CB8AC3E}">
        <p14:creationId xmlns:p14="http://schemas.microsoft.com/office/powerpoint/2010/main" val="2025867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330C1-3472-4260-8C9E-439D95B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6FEB6-E0B2-4615-8093-8153939A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A29E"/>
                </a:solidFill>
              </a:defRPr>
            </a:pPr>
            <a:r>
              <a:rPr sz="1050" b="1">
                <a:solidFill>
                  <a:srgbClr val="A8A29E"/>
                </a:solidFill>
              </a:rPr>
              <a:t>POWER BI · ACADEMIC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F683C-7F5D-4E9B-A02D-7B1A6032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29E"/>
                </a:solidFill>
              </a:defRPr>
            </a:pPr>
            <a:r>
              <a:rPr sz="975" b="1">
                <a:solidFill>
                  <a:srgbClr val="A8A29E"/>
                </a:solidFill>
              </a:rPr>
              <a:t>03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539C-2F6C-45E0-AD8A-2D524EC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55EFC-D8DD-44CC-BD5A-A3782D3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The performance story fits on one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2E2C6-F5AE-4658-AE11-CD278AF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A29E"/>
                </a:solidFill>
              </a:defRPr>
            </a:pPr>
            <a:r>
              <a:rPr sz="1425" b="0">
                <a:solidFill>
                  <a:srgbClr val="A8A29E"/>
                </a:solidFill>
              </a:rPr>
              <a:t>KPIs, annual revenue mix, quarterly profit, and at-a-glance gauges.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0177636ee4e03"/>
          <a:stretch xmlns:a="http://schemas.openxmlformats.org/drawingml/2006/main"/>
        </p:blipFill>
        <p:spPr>
          <a:xfrm xmlns:a="http://schemas.openxmlformats.org/drawingml/2006/main">
            <a:off x="2619256" y="2076450"/>
            <a:ext cx="6953488" cy="3905250"/>
          </a:xfrm>
          <a:prstGeom xmlns:a="http://schemas.openxmlformats.org/drawingml/2006/main" prst="roundRect">
            <a:avLst>
              <a:gd name="adj" fmla="val 3415"/>
            </a:avLst>
          </a:prstGeom>
        </p:spPr>
      </p:pic>
    </p:spTree>
    <p:extLst>
      <p:ext uri="{BB962C8B-B14F-4D97-AF65-F5344CB8AC3E}">
        <p14:creationId xmlns:p14="http://schemas.microsoft.com/office/powerpoint/2010/main" val="3591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3C011-326A-461D-B6C4-4EF52D18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57E52-1C59-445E-B42C-1E03640E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A29E"/>
                </a:solidFill>
              </a:defRPr>
            </a:pPr>
            <a:r>
              <a:rPr sz="1050" b="1">
                <a:solidFill>
                  <a:srgbClr val="A8A29E"/>
                </a:solidFill>
              </a:rPr>
              <a:t>POWER BI · ACADEMIC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B2318-D0C1-4DA7-89D8-8D3BA2F2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29E"/>
                </a:solidFill>
              </a:defRPr>
            </a:pPr>
            <a:r>
              <a:rPr sz="975" b="1">
                <a:solidFill>
                  <a:srgbClr val="A8A29E"/>
                </a:solidFill>
              </a:rPr>
              <a:t>04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74309-C421-48C6-8CBF-AFF9B5DF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CE6FE-4185-4E3E-94BB-D6A2C43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4"/>
                </a:solidFill>
              </a:defRPr>
            </a:pPr>
            <a:r>
              <a:rPr sz="3150" b="1">
                <a:solidFill>
                  <a:srgbClr val="F5F5F4"/>
                </a:solidFill>
              </a:rPr>
              <a:t>Three patterns stand out in the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F1F7E-B23C-4049-BF0E-2EFF786A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29E"/>
                </a:solidFill>
              </a:defRPr>
            </a:pPr>
            <a:r>
              <a:rPr sz="1500" b="0">
                <a:solidFill>
                  <a:srgbClr val="A8A29E"/>
                </a:solidFill>
              </a:rPr>
              <a:t>The strongest result is concentration—not randomness.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E913D-A725-460D-9B58-115DF0C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AEC62"/>
                </a:solidFill>
              </a:defRPr>
            </a:pPr>
            <a:r>
              <a:rPr sz="4050" b="1">
                <a:solidFill>
                  <a:srgbClr val="9AEC62"/>
                </a:solidFill>
              </a:rPr>
              <a:t>2016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D65FB-9B54-47F3-BBB4-AE0CC62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4"/>
                </a:solidFill>
              </a:defRPr>
            </a:pPr>
            <a:r>
              <a:rPr sz="1800" b="1">
                <a:solidFill>
                  <a:srgbClr val="F5F5F4"/>
                </a:solidFill>
              </a:rPr>
              <a:t>$9.32M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D2154-623A-4F44-8E27-1BA2D8AE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29E"/>
                </a:solidFill>
              </a:defRPr>
            </a:pPr>
            <a:r>
              <a:rPr sz="1350" b="0">
                <a:solidFill>
                  <a:srgbClr val="A8A29E"/>
                </a:solidFill>
              </a:rPr>
              <a:t>The strongest annual result, narrowly ahead of 2017.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4BE1B-0027-481E-9A6F-CACE0C3A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9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2E00D-12EC-4278-8C82-ACDD1BDA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336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AEC62"/>
                </a:solidFill>
              </a:defRPr>
            </a:pPr>
            <a:r>
              <a:rPr sz="4050" b="1">
                <a:solidFill>
                  <a:srgbClr val="9AEC62"/>
                </a:solidFill>
              </a:rPr>
              <a:t>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31793-9121-4161-9F2B-AC975F2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4"/>
                </a:solidFill>
              </a:defRPr>
            </a:pPr>
            <a:r>
              <a:rPr sz="1800" b="1">
                <a:solidFill>
                  <a:srgbClr val="F5F5F4"/>
                </a:solidFill>
              </a:rPr>
              <a:t>$3.64M net profit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1C95A-E25F-4DB7-8A5B-92D10B0C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29E"/>
                </a:solidFill>
              </a:defRPr>
            </a:pPr>
            <a:r>
              <a:rPr sz="1350" b="0">
                <a:solidFill>
                  <a:srgbClr val="A8A29E"/>
                </a:solidFill>
              </a:rPr>
              <a:t>The most profitable quarter across the combined period.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892F2-7B91-4AB0-8AA3-DBBF7615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19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24978-D879-457D-93D5-380847C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AEC62"/>
                </a:solidFill>
              </a:defRPr>
            </a:pPr>
            <a:r>
              <a:rPr sz="4050" b="1">
                <a:solidFill>
                  <a:srgbClr val="9AEC62"/>
                </a:solidFill>
              </a:rPr>
              <a:t>94.9%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C5A94-93D9-4577-9591-B9A2E9A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4"/>
                </a:solidFill>
              </a:defRPr>
            </a:pPr>
            <a:r>
              <a:rPr sz="1800" b="1">
                <a:solidFill>
                  <a:srgbClr val="F5F5F4"/>
                </a:solidFill>
              </a:rPr>
              <a:t>revenue from Bikes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D76A-54C5-4107-88CD-D2AE0482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29E"/>
                </a:solidFill>
              </a:defRPr>
            </a:pPr>
            <a:r>
              <a:rPr sz="1350" b="0">
                <a:solidFill>
                  <a:srgbClr val="A8A29E"/>
                </a:solidFill>
              </a:rPr>
              <a:t>A highly concentrated mix and the clearest commercial driver.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E525C-0514-413A-8E87-B755DB0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FF58D"/>
                </a:solidFill>
              </a:defRPr>
            </a:pPr>
            <a:r>
              <a:rPr sz="1650" b="1">
                <a:solidFill>
                  <a:srgbClr val="CFF58D"/>
                </a:solidFill>
              </a:rPr>
              <a:t>Overall net profit margin: 42.0%</a:t>
            </a:r>
          </a:p>
        </p:txBody>
      </p:sp>
    </p:spTree>
    <p:extLst>
      <p:ext uri="{BB962C8B-B14F-4D97-AF65-F5344CB8AC3E}">
        <p14:creationId xmlns:p14="http://schemas.microsoft.com/office/powerpoint/2010/main" val="859860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B73FC-226E-42AD-B0F6-C0E3D19C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59157-6289-4458-A296-0B64C26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A29E"/>
                </a:solidFill>
              </a:defRPr>
            </a:pPr>
            <a:r>
              <a:rPr sz="1050" b="1">
                <a:solidFill>
                  <a:srgbClr val="A8A29E"/>
                </a:solidFill>
              </a:rPr>
              <a:t>FROM DATA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2DC2B-C246-445C-8F92-CC7A9498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29E"/>
                </a:solidFill>
              </a:defRPr>
            </a:pPr>
            <a:r>
              <a:rPr sz="975" b="1">
                <a:solidFill>
                  <a:srgbClr val="A8A29E"/>
                </a:solidFill>
              </a:rPr>
              <a:t>05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FB32-6079-4895-8C50-07F41F2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06FC9-4C78-4C50-863F-AFC29ED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4"/>
                </a:solidFill>
              </a:defRPr>
            </a:pPr>
            <a:r>
              <a:rPr sz="3150" b="1">
                <a:solidFill>
                  <a:srgbClr val="F5F5F4"/>
                </a:solidFill>
              </a:rPr>
              <a:t>Built as a complete analytics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E6B07-4562-48DC-AB6B-03FEF7E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29E"/>
                </a:solidFill>
              </a:defRPr>
            </a:pPr>
            <a:r>
              <a:rPr sz="1500" b="0">
                <a:solidFill>
                  <a:srgbClr val="A8A29E"/>
                </a:solidFill>
              </a:rPr>
              <a:t>The dashboard is the final layer—not the whole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278CB-2D0F-4011-8B88-35116D85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EC62"/>
                </a:solidFill>
              </a:defRPr>
            </a:pPr>
            <a:r>
              <a:rPr sz="1350" b="1">
                <a:solidFill>
                  <a:srgbClr val="9AEC6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7D8C-6950-48E6-97AF-AA76E3ED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4"/>
                </a:solidFill>
              </a:defRPr>
            </a:pPr>
            <a:r>
              <a:rPr sz="1875" b="1">
                <a:solidFill>
                  <a:srgbClr val="F5F5F4"/>
                </a:solidFill>
              </a:rPr>
              <a:t>CSV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558BB-30AE-4524-90EE-F370CFA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Sales, customers, products, categories, and returns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1030A-6950-49FA-8F6F-B023916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D03A-1937-450E-81D3-A64AA8E2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EC62"/>
                </a:solidFill>
              </a:defRPr>
            </a:pPr>
            <a:r>
              <a:rPr sz="1350" b="1">
                <a:solidFill>
                  <a:srgbClr val="9AEC6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7FEBB-C8FC-4038-A710-05C5315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4"/>
                </a:solidFill>
              </a:defRPr>
            </a:pPr>
            <a:r>
              <a:rPr sz="1875" b="1">
                <a:solidFill>
                  <a:srgbClr val="F5F5F4"/>
                </a:solidFill>
              </a:rPr>
              <a:t>Power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741C2-027D-4078-96CC-32331B08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Import, type validation, and repeatable 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37C47-C276-4231-AA7C-5E6625A0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A04B8-256C-4F36-AE43-41E67F37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EC62"/>
                </a:solidFill>
              </a:defRPr>
            </a:pPr>
            <a:r>
              <a:rPr sz="1350" b="1">
                <a:solidFill>
                  <a:srgbClr val="9AEC6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EF04A-D530-488B-B253-0E44A59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4"/>
                </a:solidFill>
              </a:defRPr>
            </a:pPr>
            <a:r>
              <a:rPr sz="1875" b="1">
                <a:solidFill>
                  <a:srgbClr val="F5F5F4"/>
                </a:solidFill>
              </a:rPr>
              <a:t>Model + DAX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95A86-FECE-4D4C-83DD-1E576F2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Relationships, revenue, profit, and KPI measures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CD6F5-88D4-4EF7-9DB0-96079802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47352-7CC1-44E3-AFCA-FCD5BAB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EC62"/>
                </a:solidFill>
              </a:defRPr>
            </a:pPr>
            <a:r>
              <a:rPr sz="1350" b="1">
                <a:solidFill>
                  <a:srgbClr val="9AEC6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C8CC6-8F3C-4AA4-89A4-3FCDD4C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4"/>
                </a:solidFill>
              </a:defRPr>
            </a:pPr>
            <a:r>
              <a:rPr sz="1875" b="1">
                <a:solidFill>
                  <a:srgbClr val="F5F5F4"/>
                </a:solidFill>
              </a:rPr>
              <a:t>Power 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558E7-4558-425C-BDF3-6A202FE7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29E"/>
                </a:solidFill>
              </a:defRPr>
            </a:pPr>
            <a:r>
              <a:rPr sz="1275" b="0">
                <a:solidFill>
                  <a:srgbClr val="A8A29E"/>
                </a:solidFill>
              </a:rPr>
              <a:t>Executive dashboard and decision-ready storytelling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22272-E6E6-49BC-A829-91151FB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E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025D8-EBC2-4DE6-A829-30821D81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github.com/KHALEDBL1/Sales-Performance-Dashboard-Power-BI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83171-3F51-4017-A9D7-4249470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24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A29E"/>
                </a:solidFill>
              </a:defRPr>
            </a:pPr>
            <a:r>
              <a:rPr sz="1050" b="0">
                <a:solidFill>
                  <a:srgbClr val="A8A29E"/>
                </a:solidFill>
              </a:rPr>
              <a:t>Power BI · Power Query · DAX · Data Modeling</a:t>
            </a:r>
          </a:p>
        </p:txBody>
      </p:sp>
    </p:spTree>
    <p:extLst>
      <p:ext uri="{BB962C8B-B14F-4D97-AF65-F5344CB8AC3E}">
        <p14:creationId xmlns:p14="http://schemas.microsoft.com/office/powerpoint/2010/main" val="1334938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2026-08-10T03:59:09.2060000Z</dcterms:created>
  <dcterms:modified xsi:type="dcterms:W3CDTF">2026-08-10T03:59:09.2060000Z</dcterms:modified>
</coreProperties>
</file>