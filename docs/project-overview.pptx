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d4b0ee92ad4b30" /><Relationship Type="http://schemas.openxmlformats.org/officeDocument/2006/relationships/extended-properties" Target="/docProps/app.xml" Id="R3b131c226ed44bf6" /><Relationship Type="http://schemas.openxmlformats.org/officeDocument/2006/relationships/officeDocument" Target="/ppt/presentation.xml" Id="R9a58ee2a6fc944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eb016106a54739"/>
  </p:sldMasterIdLst>
  <p:notesMasterIdLst>
    <p:notesMasterId xmlns:r="http://schemas.openxmlformats.org/officeDocument/2006/relationships" r:id="R054116f4dbc4492c"/>
  </p:notesMasterIdLst>
  <p:sldIdLst>
    <p:sldId xmlns:r="http://schemas.openxmlformats.org/officeDocument/2006/relationships" id="256" r:id="R356078e7ee234592"/>
    <p:sldId xmlns:r="http://schemas.openxmlformats.org/officeDocument/2006/relationships" id="257" r:id="Rca07547ec1464bdf"/>
    <p:sldId xmlns:r="http://schemas.openxmlformats.org/officeDocument/2006/relationships" id="258" r:id="R5d2f4d574759445f"/>
    <p:sldId xmlns:r="http://schemas.openxmlformats.org/officeDocument/2006/relationships" id="259" r:id="R92db0411b70a4bd0"/>
    <p:sldId xmlns:r="http://schemas.openxmlformats.org/officeDocument/2006/relationships" id="260" r:id="Rdede821b0eaf461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c149d7163604783" /><Relationship Type="http://schemas.openxmlformats.org/officeDocument/2006/relationships/slideMaster" Target="/ppt/slideMasters/slideMaster1.xml" Id="R42eb016106a54739" /><Relationship Type="http://schemas.openxmlformats.org/officeDocument/2006/relationships/notesMaster" Target="/ppt/notesMasters/notesMaster1.xml" Id="R054116f4dbc4492c" /><Relationship Type="http://schemas.openxmlformats.org/officeDocument/2006/relationships/presProps" Target="/ppt/presProps.xml" Id="R3244f8d73fbe4763" /><Relationship Type="http://schemas.openxmlformats.org/officeDocument/2006/relationships/tableStyles" Target="/ppt/tableStyles.xml" Id="Recf6232b562e48bc" /><Relationship Type="http://schemas.openxmlformats.org/officeDocument/2006/relationships/slide" Target="/ppt/slides/slide1.xml" Id="R356078e7ee234592" /><Relationship Type="http://schemas.openxmlformats.org/officeDocument/2006/relationships/slide" Target="/ppt/slides/slide2.xml" Id="Rca07547ec1464bdf" /><Relationship Type="http://schemas.openxmlformats.org/officeDocument/2006/relationships/slide" Target="/ppt/slides/slide3.xml" Id="R5d2f4d574759445f" /><Relationship Type="http://schemas.openxmlformats.org/officeDocument/2006/relationships/slide" Target="/ppt/slides/slide4.xml" Id="R92db0411b70a4bd0" /><Relationship Type="http://schemas.openxmlformats.org/officeDocument/2006/relationships/slide" Target="/ppt/slides/slide5.xml" Id="Rdede821b0eaf46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84fd6220a446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9c51e0943b04a89" /><Relationship Type="http://schemas.openxmlformats.org/officeDocument/2006/relationships/notesMaster" Target="/ppt/notesMasters/notesMaster1.xml" Id="Ra518b00f9cd242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765759b98d94e08" /><Relationship Type="http://schemas.openxmlformats.org/officeDocument/2006/relationships/notesMaster" Target="/ppt/notesMasters/notesMaster1.xml" Id="Rcfd5a5f652aa4f7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6a18dd141924342" /><Relationship Type="http://schemas.openxmlformats.org/officeDocument/2006/relationships/notesMaster" Target="/ppt/notesMasters/notesMaster1.xml" Id="Rfbb68b54c9c84e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33e2e7dfb948d6" /><Relationship Type="http://schemas.openxmlformats.org/officeDocument/2006/relationships/notesMaster" Target="/ppt/notesMasters/notesMaster1.xml" Id="R2407f6b20eb447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ad8f88849104969" /><Relationship Type="http://schemas.openxmlformats.org/officeDocument/2006/relationships/notesMaster" Target="/ppt/notesMasters/notesMaster1.xml" Id="R929f56142e62468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title and author: user-provided Power BI project.</a:t>
            </a:r>
          </a:p>
          <a:p xmlns:a="http://schemas.openxmlformats.org/drawingml/2006/main">
            <a:r>
              <a:t>- AdventureWorks background: https://learn.microsoft.com/en-us/sql/samples/adventureworks-install-configure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Metrics: repository CSV files; calculations documented in docs/metric-definitions.md.</a:t>
            </a:r>
          </a:p>
          <a:p xmlns:a="http://schemas.openxmlformats.org/drawingml/2006/main">
            <a:r>
              <a:t>- AdventureWorks background: https://learn.microsoft.com/en-us/sql/samples/adventureworks-install-configure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Dashboard screenshot: user-provided Power BI report captured locally from report/Sales Performance Dashboard.pbix.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Metrics: repository CSV files; calculations documented in docs/metric-definitions.md.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Technical workflow: user-provided report and included CSV files.</a:t>
            </a:r>
          </a:p>
          <a:p xmlns:a="http://schemas.openxmlformats.org/drawingml/2006/main">
            <a:r>
              <a:t>- Repository URL: https://github.com/KHALEDBL1/Sales-Performance-Dashboard-Power-BI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a6ffc1523a4c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50e88b1e1e4e11" /><Relationship Type="http://schemas.openxmlformats.org/officeDocument/2006/relationships/slideLayout" Target="/ppt/slideLayouts/slideLayout1.xml" Id="R2ba0bb7f6ce041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a0bb7f6ce041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75dd2147034755" /><Relationship Type="http://schemas.openxmlformats.org/officeDocument/2006/relationships/notesSlide" Target="/ppt/notesSlides/notesSlide1.xml" Id="R0f4211fd19ef46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ea5944b889458e" /><Relationship Type="http://schemas.openxmlformats.org/officeDocument/2006/relationships/notesSlide" Target="/ppt/notesSlides/notesSlide2.xml" Id="Rc04a2e102fb242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8339a51255441b" /><Relationship Type="http://schemas.openxmlformats.org/officeDocument/2006/relationships/image" Target="/ppt/media/image.png" Id="R7f00177636ee4e03" /><Relationship Type="http://schemas.openxmlformats.org/officeDocument/2006/relationships/notesSlide" Target="/ppt/notesSlides/notesSlide3.xml" Id="Rf51950ab3d0843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fa1b47b49d480d" /><Relationship Type="http://schemas.openxmlformats.org/officeDocument/2006/relationships/notesSlide" Target="/ppt/notesSlides/notesSlide4.xml" Id="R7e0c743822f24fe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a35ba5306344ba" /><Relationship Type="http://schemas.openxmlformats.org/officeDocument/2006/relationships/notesSlide" Target="/ppt/notesSlides/notesSlide5.xml" Id="R445876da53ef465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3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523C0E-1D32-43BC-8455-069AE205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EC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07E077-0664-4C6B-A9F9-41C9717F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66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EC62"/>
                </a:solidFill>
              </a:defRPr>
            </a:pPr>
            <a:r>
              <a:rPr sz="1125" b="1">
                <a:solidFill>
                  <a:srgbClr val="9AEC62"/>
                </a:solidFill>
              </a:rPr>
              <a:t>ACADEMIC PORTFOLIO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25AA65-7FF7-4CDD-982C-F33158AB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200150"/>
            <a:ext cx="74295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5F5F4"/>
                </a:solidFill>
              </a:defRPr>
            </a:pPr>
            <a:r>
              <a:rPr sz="4800" b="1">
                <a:solidFill>
                  <a:srgbClr val="F5F5F4"/>
                </a:solidFill>
              </a:rPr>
              <a:t>Sales Performance</a:t>
            </a:r>
          </a:p>
          <a:p xmlns:a="http://schemas.openxmlformats.org/drawingml/2006/main">
            <a:pPr algn="l">
              <a:defRPr sz="4800" b="1">
                <a:solidFill>
                  <a:srgbClr val="F5F5F4"/>
                </a:solidFill>
              </a:defRPr>
            </a:pPr>
            <a:r>
              <a:rPr sz="4800" b="1">
                <a:solidFill>
                  <a:srgbClr val="F5F5F4"/>
                </a:solidFill>
              </a:rPr>
              <a:t>Dashboard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25E5C0-2BDF-4B8B-A6E2-C50C54D0C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67050"/>
            <a:ext cx="609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8A29E"/>
                </a:solidFill>
              </a:defRPr>
            </a:pPr>
            <a:r>
              <a:rPr sz="1800" b="0">
                <a:solidFill>
                  <a:srgbClr val="A8A29E"/>
                </a:solidFill>
              </a:rPr>
              <a:t>Power BI · AdventureWorks · 2015–2017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E5C9B7-920A-45E4-8E39-DE37BCB7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2F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138DA0-6868-4353-ACAD-FC123BF4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19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29E"/>
                </a:solidFill>
              </a:defRPr>
            </a:pPr>
            <a:r>
              <a:rPr sz="1275" b="0">
                <a:solidFill>
                  <a:srgbClr val="A8A29E"/>
                </a:solidFill>
              </a:rPr>
              <a:t>Designed and analyzed by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F567E5-60C8-450E-A11C-E3DDF711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434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5F5F4"/>
                </a:solidFill>
              </a:defRPr>
            </a:pPr>
            <a:r>
              <a:rPr sz="2250" b="1">
                <a:solidFill>
                  <a:srgbClr val="F5F5F4"/>
                </a:solidFill>
              </a:rPr>
              <a:t>KHALID BAHADILAH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50BA0B-BA02-494C-AF34-02F7DF2D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340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FF58D"/>
                </a:solidFill>
              </a:defRPr>
            </a:pPr>
            <a:r>
              <a:rPr sz="1500" b="0">
                <a:solidFill>
                  <a:srgbClr val="CFF58D"/>
                </a:solidFill>
              </a:rPr>
              <a:t>Data Analytics · Business Intelligence · DAX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3DA5FB-8C88-4E9E-8CB1-C7D6D73BA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0198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8A29E"/>
                </a:solidFill>
              </a:defRPr>
            </a:pPr>
            <a:r>
              <a:rPr sz="975" b="1">
                <a:solidFill>
                  <a:srgbClr val="A8A29E"/>
                </a:solidFill>
              </a:rPr>
              <a:t>01 / 05</a:t>
            </a:r>
          </a:p>
        </p:txBody>
      </p:sp>
    </p:spTree>
    <p:extLst>
      <p:ext uri="{BB962C8B-B14F-4D97-AF65-F5344CB8AC3E}">
        <p14:creationId xmlns:p14="http://schemas.microsoft.com/office/powerpoint/2010/main" val="10720560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513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52A393-492C-466E-A300-132FEA79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7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EC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42A58B-AA66-4443-A1AE-58083540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8A29E"/>
                </a:solidFill>
              </a:defRPr>
            </a:pPr>
            <a:r>
              <a:rPr sz="1050" b="1">
                <a:solidFill>
                  <a:srgbClr val="A8A29E"/>
                </a:solidFill>
              </a:rPr>
              <a:t>POWER BI · ACADEMIC PORTFOLIO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9ABCB2-A06D-42AF-80CF-D431E34D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953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8A29E"/>
                </a:solidFill>
              </a:defRPr>
            </a:pPr>
            <a:r>
              <a:rPr sz="975" b="1">
                <a:solidFill>
                  <a:srgbClr val="A8A29E"/>
                </a:solidFill>
              </a:rPr>
              <a:t>02 /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0D4416-EF6D-43FD-9450-55ED92C6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2F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962D09-1737-4DB9-881D-1380AAC9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5F4"/>
                </a:solidFill>
              </a:defRPr>
            </a:pPr>
            <a:r>
              <a:rPr sz="3150" b="1">
                <a:solidFill>
                  <a:srgbClr val="F5F5F4"/>
                </a:solidFill>
              </a:rPr>
              <a:t>One page captures the commercial picture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F0FBA8-328B-4A7F-BB8E-B75DFF87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8A29E"/>
                </a:solidFill>
              </a:defRPr>
            </a:pPr>
            <a:r>
              <a:rPr sz="1500" b="0">
                <a:solidFill>
                  <a:srgbClr val="A8A29E"/>
                </a:solidFill>
              </a:rPr>
              <a:t>Validated directly against 56,046 sales lines.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2FDF66-3FB1-4A2F-A5DB-E27E2BA5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43150"/>
            <a:ext cx="190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2F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6D2E79-613B-4C96-8A5E-AD7711B8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43150"/>
            <a:ext cx="190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2F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AF5545-F536-4AB6-A53C-03C71A074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5745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5F5F4"/>
                </a:solidFill>
              </a:defRPr>
            </a:pPr>
            <a:r>
              <a:rPr sz="3900" b="1">
                <a:solidFill>
                  <a:srgbClr val="F5F5F4"/>
                </a:solidFill>
              </a:rPr>
              <a:t>84,174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14B268-C009-4958-B713-D10F072B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9AEC62"/>
                </a:solidFill>
              </a:defRPr>
            </a:pPr>
            <a:r>
              <a:rPr sz="1575" b="1">
                <a:solidFill>
                  <a:srgbClr val="9AEC62"/>
                </a:solidFill>
              </a:rPr>
              <a:t>units sold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77F103-B917-4951-A18D-BA0BA1A58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5F5F4"/>
                </a:solidFill>
              </a:defRPr>
            </a:pPr>
            <a:r>
              <a:rPr sz="3900" b="1">
                <a:solidFill>
                  <a:srgbClr val="F5F5F4"/>
                </a:solidFill>
              </a:rPr>
              <a:t>$24.91M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F5F36D-815B-4AE2-9F5E-78BDA4694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766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9AEC62"/>
                </a:solidFill>
              </a:defRPr>
            </a:pPr>
            <a:r>
              <a:rPr sz="1575" b="1">
                <a:solidFill>
                  <a:srgbClr val="9AEC62"/>
                </a:solidFill>
              </a:rPr>
              <a:t>total revenue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554510-BC96-4FE8-AAD1-6031C9B8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5745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5F5F4"/>
                </a:solidFill>
              </a:defRPr>
            </a:pPr>
            <a:r>
              <a:rPr sz="3900" b="1">
                <a:solidFill>
                  <a:srgbClr val="F5F5F4"/>
                </a:solidFill>
              </a:rPr>
              <a:t>$10.46M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FC3CB7-22E4-464D-A54E-0DBBA68E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766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9AEC62"/>
                </a:solidFill>
              </a:defRPr>
            </a:pPr>
            <a:r>
              <a:rPr sz="1575" b="1">
                <a:solidFill>
                  <a:srgbClr val="9AEC62"/>
                </a:solidFill>
              </a:rPr>
              <a:t>net profit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C310E0-944A-4419-8419-C28EECA2F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5295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5F5F4"/>
                </a:solidFill>
              </a:defRPr>
            </a:pPr>
            <a:r>
              <a:rPr sz="2250" b="1">
                <a:solidFill>
                  <a:srgbClr val="F5F5F4"/>
                </a:solidFill>
              </a:rPr>
              <a:t>1.50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AA8551-8F34-4D65-980B-6A6ED9AB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01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29E"/>
                </a:solidFill>
              </a:defRPr>
            </a:pPr>
            <a:r>
              <a:rPr sz="1275" b="0">
                <a:solidFill>
                  <a:srgbClr val="A8A29E"/>
                </a:solidFill>
              </a:rPr>
              <a:t>avg. units / 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7B2338-CFA2-42E1-9910-96109C8E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55295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5F5F4"/>
                </a:solidFill>
              </a:defRPr>
            </a:pPr>
            <a:r>
              <a:rPr sz="2250" b="1">
                <a:solidFill>
                  <a:srgbClr val="F5F5F4"/>
                </a:solidFill>
              </a:rPr>
              <a:t>$444.54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8F5212-0DBD-439D-B88B-D3567718B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0101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29E"/>
                </a:solidFill>
              </a:defRPr>
            </a:pPr>
            <a:r>
              <a:rPr sz="1275" b="0">
                <a:solidFill>
                  <a:srgbClr val="A8A29E"/>
                </a:solidFill>
              </a:rPr>
              <a:t>avg. revenue / 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9A964B-E778-4DB9-8522-8E318F41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55295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5F5F4"/>
                </a:solidFill>
              </a:defRPr>
            </a:pPr>
            <a:r>
              <a:rPr sz="2250" b="1">
                <a:solidFill>
                  <a:srgbClr val="F5F5F4"/>
                </a:solidFill>
              </a:rPr>
              <a:t>$186.59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A83D95-19F5-4DE5-A467-712EF305C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0101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29E"/>
                </a:solidFill>
              </a:defRPr>
            </a:pPr>
            <a:r>
              <a:rPr sz="1275" b="0">
                <a:solidFill>
                  <a:srgbClr val="A8A29E"/>
                </a:solidFill>
              </a:rPr>
              <a:t>avg. profit / line</a:t>
            </a:r>
          </a:p>
        </p:txBody>
      </p:sp>
    </p:spTree>
    <p:extLst>
      <p:ext uri="{BB962C8B-B14F-4D97-AF65-F5344CB8AC3E}">
        <p14:creationId xmlns:p14="http://schemas.microsoft.com/office/powerpoint/2010/main" val="20258675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513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3330C1-3472-4260-8C9E-439D95BA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7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EC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E6FEB6-E0B2-4615-8093-8153939AB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8A29E"/>
                </a:solidFill>
              </a:defRPr>
            </a:pPr>
            <a:r>
              <a:rPr sz="1050" b="1">
                <a:solidFill>
                  <a:srgbClr val="A8A29E"/>
                </a:solidFill>
              </a:rPr>
              <a:t>POWER BI · ACADEMIC PORTFOLIO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BF683C-7F5D-4E9B-A02D-7B1A6032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953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8A29E"/>
                </a:solidFill>
              </a:defRPr>
            </a:pPr>
            <a:r>
              <a:rPr sz="975" b="1">
                <a:solidFill>
                  <a:srgbClr val="A8A29E"/>
                </a:solidFill>
              </a:rPr>
              <a:t>03 /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62539C-2F6C-45E0-AD8A-2D524ECB6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2F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855EFC-D8DD-44CC-BD5A-A3782D3C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71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5F5F4"/>
                </a:solidFill>
              </a:defRPr>
            </a:pPr>
            <a:r>
              <a:rPr sz="3000" b="1">
                <a:solidFill>
                  <a:srgbClr val="F5F5F4"/>
                </a:solidFill>
              </a:rPr>
              <a:t>The performance story fits on one screen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82E2C6-F5AE-4658-AE11-CD278AFF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430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A29E"/>
                </a:solidFill>
              </a:defRPr>
            </a:pPr>
            <a:r>
              <a:rPr sz="1425" b="0">
                <a:solidFill>
                  <a:srgbClr val="A8A29E"/>
                </a:solidFill>
              </a:rPr>
              <a:t>KPIs, annual revenue mix, quarterly profit, and at-a-glance gauges.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00177636ee4e03"/>
          <a:stretch xmlns:a="http://schemas.openxmlformats.org/drawingml/2006/main"/>
        </p:blipFill>
        <p:spPr>
          <a:xfrm xmlns:a="http://schemas.openxmlformats.org/drawingml/2006/main">
            <a:off x="2619256" y="2076450"/>
            <a:ext cx="6953488" cy="3905250"/>
          </a:xfrm>
          <a:prstGeom xmlns:a="http://schemas.openxmlformats.org/drawingml/2006/main" prst="roundRect">
            <a:avLst>
              <a:gd name="adj" fmla="val 3415"/>
            </a:avLst>
          </a:prstGeom>
        </p:spPr>
      </p:pic>
    </p:spTree>
    <p:extLst>
      <p:ext uri="{BB962C8B-B14F-4D97-AF65-F5344CB8AC3E}">
        <p14:creationId xmlns:p14="http://schemas.microsoft.com/office/powerpoint/2010/main" val="35915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513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E3C011-326A-461D-B6C4-4EF52D18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7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EC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157E52-1C59-445E-B42C-1E03640E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8A29E"/>
                </a:solidFill>
              </a:defRPr>
            </a:pPr>
            <a:r>
              <a:rPr sz="1050" b="1">
                <a:solidFill>
                  <a:srgbClr val="A8A29E"/>
                </a:solidFill>
              </a:rPr>
              <a:t>POWER BI · ACADEMIC PORTFOLIO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7B2318-D0C1-4DA7-89D8-8D3BA2F2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953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8A29E"/>
                </a:solidFill>
              </a:defRPr>
            </a:pPr>
            <a:r>
              <a:rPr sz="975" b="1">
                <a:solidFill>
                  <a:srgbClr val="A8A29E"/>
                </a:solidFill>
              </a:rPr>
              <a:t>04 /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574309-C421-48C6-8CBF-AFF9B5DF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2F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4CE6FE-4185-4E3E-94BB-D6A2C43C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5F4"/>
                </a:solidFill>
              </a:defRPr>
            </a:pPr>
            <a:r>
              <a:rPr sz="3150" b="1">
                <a:solidFill>
                  <a:srgbClr val="F5F5F4"/>
                </a:solidFill>
              </a:rPr>
              <a:t>Three patterns stand out in the 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7F1F7E-B23C-4049-BF0E-2EFF786AA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8A29E"/>
                </a:solidFill>
              </a:defRPr>
            </a:pPr>
            <a:r>
              <a:rPr sz="1500" b="0">
                <a:solidFill>
                  <a:srgbClr val="A8A29E"/>
                </a:solidFill>
              </a:rPr>
              <a:t>The strongest result is concentration—not randomness.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2E913D-A725-460D-9B58-115DF0C6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3365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9AEC62"/>
                </a:solidFill>
              </a:defRPr>
            </a:pPr>
            <a:r>
              <a:rPr sz="4050" b="1">
                <a:solidFill>
                  <a:srgbClr val="9AEC62"/>
                </a:solidFill>
              </a:rPr>
              <a:t>2016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BD65FB-9B54-47F3-BBB4-AE0CC6232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5F4"/>
                </a:solidFill>
              </a:defRPr>
            </a:pPr>
            <a:r>
              <a:rPr sz="1800" b="1">
                <a:solidFill>
                  <a:srgbClr val="F5F5F4"/>
                </a:solidFill>
              </a:rPr>
              <a:t>$9.32M revenue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ED2154-623A-4F44-8E27-1BA2D8AE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81450"/>
            <a:ext cx="3143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A29E"/>
                </a:solidFill>
              </a:defRPr>
            </a:pPr>
            <a:r>
              <a:rPr sz="1350" b="0">
                <a:solidFill>
                  <a:srgbClr val="A8A29E"/>
                </a:solidFill>
              </a:rPr>
              <a:t>The strongest annual result, narrowly ahead of 2017.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F4BE1B-0027-481E-9A6F-CACE0C3A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457450"/>
            <a:ext cx="190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2F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B2E00D-12EC-4278-8C82-ACDD1BDA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53365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9AEC62"/>
                </a:solidFill>
              </a:defRPr>
            </a:pPr>
            <a:r>
              <a:rPr sz="4050" b="1">
                <a:solidFill>
                  <a:srgbClr val="9AEC62"/>
                </a:solidFill>
              </a:rPr>
              <a:t>Q2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131793-9121-4161-9F2B-AC975F25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290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5F4"/>
                </a:solidFill>
              </a:defRPr>
            </a:pPr>
            <a:r>
              <a:rPr sz="1800" b="1">
                <a:solidFill>
                  <a:srgbClr val="F5F5F4"/>
                </a:solidFill>
              </a:rPr>
              <a:t>$3.64M net profit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E1C95A-E25F-4DB7-8A5B-92D10B0C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981450"/>
            <a:ext cx="3143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A29E"/>
                </a:solidFill>
              </a:defRPr>
            </a:pPr>
            <a:r>
              <a:rPr sz="1350" b="0">
                <a:solidFill>
                  <a:srgbClr val="A8A29E"/>
                </a:solidFill>
              </a:rPr>
              <a:t>The most profitable quarter across the combined period.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0892F2-7B91-4AB0-8AA3-DBBF7615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57450"/>
            <a:ext cx="190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2F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124978-D879-457D-93D5-380847C4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3365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9AEC62"/>
                </a:solidFill>
              </a:defRPr>
            </a:pPr>
            <a:r>
              <a:rPr sz="4050" b="1">
                <a:solidFill>
                  <a:srgbClr val="9AEC62"/>
                </a:solidFill>
              </a:rPr>
              <a:t>94.9%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0C5A94-93D9-4577-9591-B9A2E9A5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290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5F4"/>
                </a:solidFill>
              </a:defRPr>
            </a:pPr>
            <a:r>
              <a:rPr sz="1800" b="1">
                <a:solidFill>
                  <a:srgbClr val="F5F5F4"/>
                </a:solidFill>
              </a:rPr>
              <a:t>revenue from Bikes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E6D76A-54C5-4107-88CD-D2AE0482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81450"/>
            <a:ext cx="3143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A29E"/>
                </a:solidFill>
              </a:defRPr>
            </a:pPr>
            <a:r>
              <a:rPr sz="1350" b="0">
                <a:solidFill>
                  <a:srgbClr val="A8A29E"/>
                </a:solidFill>
              </a:rPr>
              <a:t>A highly concentrated mix and the clearest commercial driver.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AE525C-0514-413A-8E87-B755DB0B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FF58D"/>
                </a:solidFill>
              </a:defRPr>
            </a:pPr>
            <a:r>
              <a:rPr sz="1650" b="1">
                <a:solidFill>
                  <a:srgbClr val="CFF58D"/>
                </a:solidFill>
              </a:rPr>
              <a:t>Overall net profit margin: 42.0%</a:t>
            </a:r>
          </a:p>
        </p:txBody>
      </p:sp>
    </p:spTree>
    <p:extLst>
      <p:ext uri="{BB962C8B-B14F-4D97-AF65-F5344CB8AC3E}">
        <p14:creationId xmlns:p14="http://schemas.microsoft.com/office/powerpoint/2010/main" val="8598601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513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3B73FC-226E-42AD-B0F6-C0E3D19C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7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EC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159157-6289-4458-A296-0B64C266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8A29E"/>
                </a:solidFill>
              </a:defRPr>
            </a:pPr>
            <a:r>
              <a:rPr sz="1050" b="1">
                <a:solidFill>
                  <a:srgbClr val="A8A29E"/>
                </a:solidFill>
              </a:rPr>
              <a:t>FROM DATA TO 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52DC2B-C246-445C-8F92-CC7A9498C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953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8A29E"/>
                </a:solidFill>
              </a:defRPr>
            </a:pPr>
            <a:r>
              <a:rPr sz="975" b="1">
                <a:solidFill>
                  <a:srgbClr val="A8A29E"/>
                </a:solidFill>
              </a:rPr>
              <a:t>05 /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61FB32-6079-4895-8C50-07F41F22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2F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C06FC9-4C78-4C50-863F-AFC29ED1C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5F4"/>
                </a:solidFill>
              </a:defRPr>
            </a:pPr>
            <a:r>
              <a:rPr sz="3150" b="1">
                <a:solidFill>
                  <a:srgbClr val="F5F5F4"/>
                </a:solidFill>
              </a:rPr>
              <a:t>Built as a complete analytics workflow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5E6B07-4562-48DC-AB6B-03FEF7E5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8A29E"/>
                </a:solidFill>
              </a:defRPr>
            </a:pPr>
            <a:r>
              <a:rPr sz="1500" b="0">
                <a:solidFill>
                  <a:srgbClr val="A8A29E"/>
                </a:solidFill>
              </a:rPr>
              <a:t>The dashboard is the final layer—not the whole project.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D278CB-2D0F-4011-8B88-35116D85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EC62"/>
                </a:solidFill>
              </a:defRPr>
            </a:pPr>
            <a:r>
              <a:rPr sz="1350" b="1">
                <a:solidFill>
                  <a:srgbClr val="9AEC62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527D8C-6950-48E6-97AF-AA76E3ED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574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5F4"/>
                </a:solidFill>
              </a:defRPr>
            </a:pPr>
            <a:r>
              <a:rPr sz="1875" b="1">
                <a:solidFill>
                  <a:srgbClr val="F5F5F4"/>
                </a:solidFill>
              </a:rPr>
              <a:t>CSV sources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A558BB-30AE-4524-90EE-F370CFA1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76500"/>
            <a:ext cx="733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29E"/>
                </a:solidFill>
              </a:defRPr>
            </a:pPr>
            <a:r>
              <a:rPr sz="1275" b="0">
                <a:solidFill>
                  <a:srgbClr val="A8A29E"/>
                </a:solidFill>
              </a:rPr>
              <a:t>Sales, customers, products, categories, and returns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51030A-6950-49FA-8F6F-B0239161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5275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2F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03A-1937-450E-81D3-A64AA8E2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575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EC62"/>
                </a:solidFill>
              </a:defRPr>
            </a:pPr>
            <a:r>
              <a:rPr sz="1350" b="1">
                <a:solidFill>
                  <a:srgbClr val="9AEC62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87FEBB-C8FC-4038-A710-05C53158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5F4"/>
                </a:solidFill>
              </a:defRPr>
            </a:pPr>
            <a:r>
              <a:rPr sz="1875" b="1">
                <a:solidFill>
                  <a:srgbClr val="F5F5F4"/>
                </a:solidFill>
              </a:rPr>
              <a:t>Power Query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0741C2-027D-4078-96CC-32331B08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57550"/>
            <a:ext cx="733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29E"/>
                </a:solidFill>
              </a:defRPr>
            </a:pPr>
            <a:r>
              <a:rPr sz="1275" b="0">
                <a:solidFill>
                  <a:srgbClr val="A8A29E"/>
                </a:solidFill>
              </a:rPr>
              <a:t>Import, type validation, and repeatable refresh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837C47-C276-4231-AA7C-5E6625A0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3380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2F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DA04B8-256C-4F36-AE43-41E67F37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386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EC62"/>
                </a:solidFill>
              </a:defRPr>
            </a:pPr>
            <a:r>
              <a:rPr sz="1350" b="1">
                <a:solidFill>
                  <a:srgbClr val="9AEC6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1EF04A-D530-488B-B253-0E44A59F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195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5F4"/>
                </a:solidFill>
              </a:defRPr>
            </a:pPr>
            <a:r>
              <a:rPr sz="1875" b="1">
                <a:solidFill>
                  <a:srgbClr val="F5F5F4"/>
                </a:solidFill>
              </a:rPr>
              <a:t>Model + DAX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395A86-FECE-4D4C-83DD-1E576F2E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38600"/>
            <a:ext cx="733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29E"/>
                </a:solidFill>
              </a:defRPr>
            </a:pPr>
            <a:r>
              <a:rPr sz="1275" b="0">
                <a:solidFill>
                  <a:srgbClr val="A8A29E"/>
                </a:solidFill>
              </a:rPr>
              <a:t>Relationships, revenue, profit, and KPI measures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3CD6F5-88D4-4EF7-9DB0-96079802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2F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C47352-7CC1-44E3-AFCA-FCD5BABE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EC62"/>
                </a:solidFill>
              </a:defRPr>
            </a:pPr>
            <a:r>
              <a:rPr sz="1350" b="1">
                <a:solidFill>
                  <a:srgbClr val="9AEC62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FC8CC6-8F3C-4AA4-89A4-3FCDD4CC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006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5F4"/>
                </a:solidFill>
              </a:defRPr>
            </a:pPr>
            <a:r>
              <a:rPr sz="1875" b="1">
                <a:solidFill>
                  <a:srgbClr val="F5F5F4"/>
                </a:solidFill>
              </a:rPr>
              <a:t>Power 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F558E7-4558-425C-BDF3-6A202FE7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19650"/>
            <a:ext cx="733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A29E"/>
                </a:solidFill>
              </a:defRPr>
            </a:pPr>
            <a:r>
              <a:rPr sz="1275" b="0">
                <a:solidFill>
                  <a:srgbClr val="A8A29E"/>
                </a:solidFill>
              </a:rPr>
              <a:t>Executive dashboard and decision-ready storytelling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022272-E6E6-49BC-A829-91151FB1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531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EC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A025D8-EBC2-4DE6-A829-30821D81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5F4"/>
                </a:solidFill>
              </a:defRPr>
            </a:pPr>
            <a:r>
              <a:rPr sz="1350" b="1">
                <a:solidFill>
                  <a:srgbClr val="F5F5F4"/>
                </a:solidFill>
              </a:rPr>
              <a:t>github.com/KHALEDBL1/Sales-Performance-Dashboard-Power-BI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83171-3F51-4017-A9D7-42494705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9245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A29E"/>
                </a:solidFill>
              </a:defRPr>
            </a:pPr>
            <a:r>
              <a:rPr sz="1050" b="0">
                <a:solidFill>
                  <a:srgbClr val="A8A29E"/>
                </a:solidFill>
              </a:rPr>
              <a:t>Power BI · Power Query · DAX · Data Modeling</a:t>
            </a:r>
          </a:p>
        </p:txBody>
      </p:sp>
    </p:spTree>
    <p:extLst>
      <p:ext uri="{BB962C8B-B14F-4D97-AF65-F5344CB8AC3E}">
        <p14:creationId xmlns:p14="http://schemas.microsoft.com/office/powerpoint/2010/main" val="13349383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2026-08-10T03:59:09.2060000Z</dcterms:created>
  <dcterms:modified xsi:type="dcterms:W3CDTF">2026-08-10T03:59:09.2060000Z</dcterms:modified>
</coreProperties>
</file>